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Alexandria Light"/>
      <p:regular r:id="rId201314"/>
    </p:embeddedFont>
    <p:embeddedFont>
      <p:font typeface="Alexandria"/>
      <p:regular r:id="rId201315"/>
    </p:embeddedFont>
    <p:embeddedFont>
      <p:font typeface="Alexandria SemiBold"/>
      <p:regular r:id="rId201316"/>
    </p:embeddedFont>
    <p:embeddedFont>
      <p:font typeface="Alexandria Black"/>
      <p:regular r:id="rId201317"/>
    </p:embeddedFont>
    <p:embeddedFont>
      <p:font typeface="Sora Light"/>
      <p:regular r:id="rId201318"/>
    </p:embeddedFont>
    <p:embeddedFont>
      <p:font typeface="Sora"/>
      <p:regular r:id="rId201319"/>
    </p:embeddedFont>
    <p:embeddedFont>
      <p:font typeface="Sora SemiBold"/>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 Id="rId201318" Type="http://schemas.openxmlformats.org/officeDocument/2006/relationships/font" Target="fonts/201318.fntdata"/><Relationship Id="rId201319" Type="http://schemas.openxmlformats.org/officeDocument/2006/relationships/font" Target="fonts/201319.fntdata"/><Relationship Id="rId201320" Type="http://schemas.openxmlformats.org/officeDocument/2006/relationships/font" Target="fonts/201320.fntdata"/><Relationship Id="rId201321" Type="http://schemas.openxmlformats.org/officeDocument/2006/relationships/font" Target="fonts/201321.fntdata"/><Relationship Id="rId201322" Type="http://schemas.openxmlformats.org/officeDocument/2006/relationships/font" Target="fonts/201322.fntdata"/><Relationship Id="rId201323" Type="http://schemas.openxmlformats.org/officeDocument/2006/relationships/font" Target="fonts/201323.fntdata"/><Relationship Id="rId201324" Type="http://schemas.openxmlformats.org/officeDocument/2006/relationships/font" Target="fonts/2013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[morning/afternoon] everyone. We're presenting our project, "AI-Powered Invoice Processing and Entity Extraction Platform." I'm [name], along with my teammates Krishnan, Madhesh, Purusothaman, Infant, and Manoj.</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project automates accounts payable, turning manual work into touchless, auditable workflows. We use a hybrid AI stack — Tesseract OCR combined with LLMs like Gemini and Llama 3 — for accurate, context-aware entity extraction. A Streamlit dashboard lets users validate, correct, export, and monitor everything in real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Manual invoice entry is slow, costly, and error-prone, causing delays and reconciliation issues. Our solution ingests invoices as PDFs or images, extracts vendor details, dates, line items, totals, and taxes, and outputs clean JSON/CSV for accounting systems. The goal: a scalable, secure platform that boosts data quality and cuts AP cycle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manual process has four major issues: high operational cost from dedicated data-entry teams, slow turnaround causing payment delays, frequent human errors needing rework, and poor scalability during volume spikes or format changes.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pipeline has four stages. Pre-processing enhances image quality and normalizes PDFs. The OCR layer extracts raw text with layout coordinates. The AI engine uses LLMs to semantically parse this into structured JSON. Finally, the interface — a Streamlit dashboard — enables human validation, analytics, and export.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flow moves from document ingestion, to OCR and layout analysis, to LLM-based semantic parsing, to validation and export. Key components include layout analysis for tables and headers, context-aware LLM extraction, confidence scoring to flag uncertain results, and rule-based validation against business schemas.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plan to add ERP integration with SAP, QuickBooks, and NetSuite; advanced analytics like spend trends and anomaly detection; expanded document support beyond invoices; and cloud scalability through containerized, autoscaling microservices.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hybrid OCR-LLM pipeline improves efficiency and accuracy while cutting manual effort. Human-in-the-loop validation keeps results auditable. The business impact: faster AP cycles, lower costs, and cleaner data for better financial decisions.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7EEF9"/>
          </a:solidFill>
          <a:ln/>
        </p:spPr>
      </p:sp>
      <p:sp>
        <p:nvSpPr>
          <p:cNvPr id="3" name="Shape 1"/>
          <p:cNvSpPr/>
          <p:nvPr/>
        </p:nvSpPr>
        <p:spPr>
          <a:xfrm>
            <a:off x="0" y="0"/>
            <a:ext cx="12191695" cy="68580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1.png"/><Relationship Id="rId8" Type="http://schemas.openxmlformats.org/officeDocument/2006/relationships/image" Target="../media/image-5-2.svg"/><Relationship Id="rId9" Type="http://schemas.openxmlformats.org/officeDocument/2006/relationships/image" Target="../media/image-5-9.jpe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31908" y="787598"/>
            <a:ext cx="6355993" cy="1781770"/>
          </a:xfrm>
          <a:prstGeom prst="rect">
            <a:avLst/>
          </a:prstGeom>
          <a:noFill/>
          <a:ln/>
        </p:spPr>
        <p:txBody>
          <a:bodyPr wrap="square" lIns="0" tIns="0" rIns="0" bIns="0" rtlCol="0" anchor="t">
            <a:normAutofit/>
          </a:bodyPr>
          <a:lstStyle/>
          <a:p>
            <a:pPr algn="ctr" indent="0" marL="0">
              <a:lnSpc>
                <a:spcPct val="104000"/>
              </a:lnSpc>
              <a:buNone/>
            </a:pPr>
            <a:r>
              <a:rPr lang="en-US" sz="3700" u="sng" dirty="0">
                <a:solidFill>
                  <a:srgbClr val="1A2D7A"/>
                </a:solidFill>
                <a:latin typeface="Alexandria SemiBold" pitchFamily="34" charset="0"/>
                <a:ea typeface="Alexandria SemiBold" pitchFamily="34" charset="-122"/>
                <a:cs typeface="Alexandria SemiBold" pitchFamily="34" charset="-120"/>
              </a:rPr>
              <a:t>AI-Powered Invoice Processing &amp; Entity Extraction Platform</a:t>
            </a:r>
            <a:endParaRPr lang="en-US" sz="3700" dirty="0"/>
          </a:p>
        </p:txBody>
      </p:sp>
      <p:sp>
        <p:nvSpPr>
          <p:cNvPr id="4" name="Text 1"/>
          <p:cNvSpPr/>
          <p:nvPr/>
        </p:nvSpPr>
        <p:spPr>
          <a:xfrm>
            <a:off x="631908" y="2840137"/>
            <a:ext cx="6965577" cy="288925"/>
          </a:xfrm>
          <a:prstGeom prst="rect">
            <a:avLst/>
          </a:prstGeom>
          <a:noFill/>
          <a:ln/>
        </p:spPr>
        <p:txBody>
          <a:bodyPr wrap="none" lIns="0" tIns="0" rIns="0" bIns="0" rtlCol="0" anchor="t"/>
          <a:lstStyle/>
          <a:p>
            <a:pPr algn="l" indent="0" marL="0">
              <a:lnSpc>
                <a:spcPct val="133000"/>
              </a:lnSpc>
              <a:buNone/>
            </a:pPr>
            <a:endParaRPr lang="en-US" sz="1400" dirty="0"/>
          </a:p>
        </p:txBody>
      </p:sp>
      <p:sp>
        <p:nvSpPr>
          <p:cNvPr id="5" name="Text 2"/>
          <p:cNvSpPr/>
          <p:nvPr/>
        </p:nvSpPr>
        <p:spPr>
          <a:xfrm>
            <a:off x="631908" y="3399830"/>
            <a:ext cx="6355993" cy="593923"/>
          </a:xfrm>
          <a:prstGeom prst="rect">
            <a:avLst/>
          </a:prstGeom>
          <a:noFill/>
          <a:ln/>
        </p:spPr>
        <p:txBody>
          <a:bodyPr wrap="none" lIns="0" tIns="0" rIns="0" bIns="0" rtlCol="0" anchor="t"/>
          <a:lstStyle/>
          <a:p>
            <a:pPr algn="l" indent="0" marL="0">
              <a:lnSpc>
                <a:spcPct val="104000"/>
              </a:lnSpc>
              <a:buNone/>
            </a:pPr>
            <a:r>
              <a:rPr lang="en-US" sz="3700" i="1" dirty="0">
                <a:solidFill>
                  <a:srgbClr val="3B3535"/>
                </a:solidFill>
                <a:highlight>
                  <a:srgbClr val="CCCCCC"/>
                </a:highlight>
                <a:latin typeface="Alexandria SemiBold" pitchFamily="34" charset="0"/>
                <a:ea typeface="Alexandria SemiBold" pitchFamily="34" charset="-122"/>
                <a:cs typeface="Alexandria SemiBold" pitchFamily="34" charset="-120"/>
              </a:rPr>
              <a:t>Team Members</a:t>
            </a:r>
            <a:endParaRPr lang="en-US" sz="3700" dirty="0"/>
          </a:p>
        </p:txBody>
      </p:sp>
      <p:sp>
        <p:nvSpPr>
          <p:cNvPr id="6" name="Text 3"/>
          <p:cNvSpPr/>
          <p:nvPr/>
        </p:nvSpPr>
        <p:spPr>
          <a:xfrm>
            <a:off x="631908" y="4264521"/>
            <a:ext cx="6355993" cy="1805781"/>
          </a:xfrm>
          <a:prstGeom prst="rect">
            <a:avLst/>
          </a:prstGeom>
          <a:noFill/>
          <a:ln/>
        </p:spPr>
        <p:txBody>
          <a:bodyPr wrap="square" lIns="0" tIns="0" rIns="0" bIns="0" rtlCol="0" anchor="t">
            <a:normAutofit/>
          </a:bodyPr>
          <a:lstStyle/>
          <a:p>
            <a:pPr algn="l" indent="0" marL="0">
              <a:lnSpc>
                <a:spcPct val="133000"/>
              </a:lnSpc>
              <a:buNone/>
            </a:pPr>
            <a:r>
              <a:rPr lang="en-US" sz="1750" b="1" i="1" dirty="0">
                <a:solidFill>
                  <a:srgbClr val="000000"/>
                </a:solidFill>
                <a:latin typeface="Sora Light" pitchFamily="34" charset="0"/>
                <a:ea typeface="Sora Light" pitchFamily="34" charset="-122"/>
                <a:cs typeface="Sora Light" pitchFamily="34" charset="-120"/>
              </a:rPr>
              <a:t>• Krishnan</a:t>
            </a:r>
            <a:endParaRPr lang="en-US" sz="1750" dirty="0"/>
          </a:p>
          <a:p>
            <a:pPr algn="l" indent="0" marL="0">
              <a:lnSpc>
                <a:spcPct val="133000"/>
              </a:lnSpc>
              <a:buNone/>
            </a:pPr>
            <a:r>
              <a:rPr lang="en-US" sz="1750" b="1" i="1" dirty="0">
                <a:solidFill>
                  <a:srgbClr val="000000"/>
                </a:solidFill>
                <a:latin typeface="Sora Light" pitchFamily="34" charset="0"/>
                <a:ea typeface="Sora Light" pitchFamily="34" charset="-122"/>
                <a:cs typeface="Sora Light" pitchFamily="34" charset="-120"/>
              </a:rPr>
              <a:t>• Madhesh</a:t>
            </a:r>
            <a:endParaRPr lang="en-US" sz="1750" dirty="0"/>
          </a:p>
          <a:p>
            <a:pPr algn="l" indent="0" marL="0">
              <a:lnSpc>
                <a:spcPct val="133000"/>
              </a:lnSpc>
              <a:buNone/>
            </a:pPr>
            <a:r>
              <a:rPr lang="en-US" sz="1750" b="1" i="1" dirty="0">
                <a:solidFill>
                  <a:srgbClr val="000000"/>
                </a:solidFill>
                <a:latin typeface="Sora Light" pitchFamily="34" charset="0"/>
                <a:ea typeface="Sora Light" pitchFamily="34" charset="-122"/>
                <a:cs typeface="Sora Light" pitchFamily="34" charset="-120"/>
              </a:rPr>
              <a:t>• Purusothaman</a:t>
            </a:r>
            <a:endParaRPr lang="en-US" sz="1750" dirty="0"/>
          </a:p>
          <a:p>
            <a:pPr algn="l" indent="0" marL="0">
              <a:lnSpc>
                <a:spcPct val="133000"/>
              </a:lnSpc>
              <a:buNone/>
            </a:pPr>
            <a:r>
              <a:rPr lang="en-US" sz="1750" b="1" i="1" dirty="0">
                <a:solidFill>
                  <a:srgbClr val="000000"/>
                </a:solidFill>
                <a:latin typeface="Sora Light" pitchFamily="34" charset="0"/>
                <a:ea typeface="Sora Light" pitchFamily="34" charset="-122"/>
                <a:cs typeface="Sora Light" pitchFamily="34" charset="-120"/>
              </a:rPr>
              <a:t>• Infant</a:t>
            </a:r>
            <a:endParaRPr lang="en-US" sz="1750" dirty="0"/>
          </a:p>
          <a:p>
            <a:pPr algn="l" indent="0" marL="0">
              <a:lnSpc>
                <a:spcPct val="133000"/>
              </a:lnSpc>
              <a:buNone/>
            </a:pPr>
            <a:r>
              <a:rPr lang="en-US" sz="1750" b="1" i="1" dirty="0">
                <a:solidFill>
                  <a:srgbClr val="000000"/>
                </a:solidFill>
                <a:latin typeface="Sora Light" pitchFamily="34" charset="0"/>
                <a:ea typeface="Sora Light" pitchFamily="34" charset="-122"/>
                <a:cs typeface="Sora Light" pitchFamily="34" charset="-120"/>
              </a:rPr>
              <a:t>• Manoj</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31908" y="1116409"/>
            <a:ext cx="6355993" cy="593923"/>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Alexandria SemiBold" pitchFamily="34" charset="0"/>
                <a:ea typeface="Alexandria SemiBold" pitchFamily="34" charset="-122"/>
                <a:cs typeface="Alexandria SemiBold" pitchFamily="34" charset="-120"/>
              </a:rPr>
              <a:t>Abstract</a:t>
            </a:r>
            <a:endParaRPr lang="en-US" sz="3700" dirty="0"/>
          </a:p>
        </p:txBody>
      </p:sp>
      <p:sp>
        <p:nvSpPr>
          <p:cNvPr id="4" name="Shape 1"/>
          <p:cNvSpPr/>
          <p:nvPr/>
        </p:nvSpPr>
        <p:spPr>
          <a:xfrm>
            <a:off x="631908" y="1981101"/>
            <a:ext cx="3087709" cy="2223393"/>
          </a:xfrm>
          <a:prstGeom prst="roundRect">
            <a:avLst>
              <a:gd name="adj" fmla="val 3411"/>
            </a:avLst>
          </a:prstGeom>
          <a:solidFill>
            <a:srgbClr val="D5DCF6"/>
          </a:solidFill>
          <a:ln w="6350">
            <a:solidFill>
              <a:srgbClr val="BBC2DC"/>
            </a:solidFill>
            <a:prstDash val="solid"/>
          </a:ln>
        </p:spPr>
      </p:sp>
      <p:sp>
        <p:nvSpPr>
          <p:cNvPr id="5" name="Text 2"/>
          <p:cNvSpPr/>
          <p:nvPr/>
        </p:nvSpPr>
        <p:spPr>
          <a:xfrm>
            <a:off x="818733" y="2167930"/>
            <a:ext cx="2714061" cy="296863"/>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Alexandria SemiBold" pitchFamily="34" charset="0"/>
                <a:ea typeface="Alexandria SemiBold" pitchFamily="34" charset="-122"/>
                <a:cs typeface="Alexandria SemiBold" pitchFamily="34" charset="-120"/>
              </a:rPr>
              <a:t>Automation</a:t>
            </a:r>
            <a:endParaRPr lang="en-US" sz="1850" dirty="0"/>
          </a:p>
        </p:txBody>
      </p:sp>
      <p:sp>
        <p:nvSpPr>
          <p:cNvPr id="6" name="Text 3"/>
          <p:cNvSpPr/>
          <p:nvPr/>
        </p:nvSpPr>
        <p:spPr>
          <a:xfrm>
            <a:off x="818733" y="2573040"/>
            <a:ext cx="2714061" cy="115570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Transform manual accounts payable into touchless, auditable workflows to reduce cost and latency.</a:t>
            </a:r>
            <a:endParaRPr lang="en-US" sz="1400" dirty="0"/>
          </a:p>
        </p:txBody>
      </p:sp>
      <p:sp>
        <p:nvSpPr>
          <p:cNvPr id="7" name="Shape 4"/>
          <p:cNvSpPr/>
          <p:nvPr/>
        </p:nvSpPr>
        <p:spPr>
          <a:xfrm>
            <a:off x="3900092" y="1981101"/>
            <a:ext cx="3087809" cy="2223393"/>
          </a:xfrm>
          <a:prstGeom prst="roundRect">
            <a:avLst>
              <a:gd name="adj" fmla="val 3411"/>
            </a:avLst>
          </a:prstGeom>
          <a:solidFill>
            <a:srgbClr val="D5DCF6"/>
          </a:solidFill>
          <a:ln w="6350">
            <a:solidFill>
              <a:srgbClr val="BBC2DC"/>
            </a:solidFill>
            <a:prstDash val="solid"/>
          </a:ln>
        </p:spPr>
      </p:sp>
      <p:sp>
        <p:nvSpPr>
          <p:cNvPr id="8" name="Text 5"/>
          <p:cNvSpPr/>
          <p:nvPr/>
        </p:nvSpPr>
        <p:spPr>
          <a:xfrm>
            <a:off x="4086917" y="2167930"/>
            <a:ext cx="2714160" cy="296863"/>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Alexandria SemiBold" pitchFamily="34" charset="0"/>
                <a:ea typeface="Alexandria SemiBold" pitchFamily="34" charset="-122"/>
                <a:cs typeface="Alexandria SemiBold" pitchFamily="34" charset="-120"/>
              </a:rPr>
              <a:t>Hybrid AI Stack</a:t>
            </a:r>
            <a:endParaRPr lang="en-US" sz="1850" dirty="0"/>
          </a:p>
        </p:txBody>
      </p:sp>
      <p:sp>
        <p:nvSpPr>
          <p:cNvPr id="9" name="Text 6"/>
          <p:cNvSpPr/>
          <p:nvPr/>
        </p:nvSpPr>
        <p:spPr>
          <a:xfrm>
            <a:off x="4086917" y="2573040"/>
            <a:ext cx="2714160" cy="144462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Combine Tesseract OCR with LLM parsing (Gemini / Llama 3) for precise entity extraction and semantic understanding.</a:t>
            </a:r>
            <a:endParaRPr lang="en-US" sz="1400" dirty="0"/>
          </a:p>
        </p:txBody>
      </p:sp>
      <p:sp>
        <p:nvSpPr>
          <p:cNvPr id="10" name="Shape 7"/>
          <p:cNvSpPr/>
          <p:nvPr/>
        </p:nvSpPr>
        <p:spPr>
          <a:xfrm>
            <a:off x="631908" y="4384973"/>
            <a:ext cx="6355993" cy="1356618"/>
          </a:xfrm>
          <a:prstGeom prst="roundRect">
            <a:avLst>
              <a:gd name="adj" fmla="val 5590"/>
            </a:avLst>
          </a:prstGeom>
          <a:solidFill>
            <a:srgbClr val="D5DCF6"/>
          </a:solidFill>
          <a:ln w="6350">
            <a:solidFill>
              <a:srgbClr val="BBC2DC"/>
            </a:solidFill>
            <a:prstDash val="solid"/>
          </a:ln>
        </p:spPr>
      </p:sp>
      <p:sp>
        <p:nvSpPr>
          <p:cNvPr id="11" name="Text 8"/>
          <p:cNvSpPr/>
          <p:nvPr/>
        </p:nvSpPr>
        <p:spPr>
          <a:xfrm>
            <a:off x="818733" y="4571802"/>
            <a:ext cx="5982344" cy="296863"/>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Alexandria SemiBold" pitchFamily="34" charset="0"/>
                <a:ea typeface="Alexandria SemiBold" pitchFamily="34" charset="-122"/>
                <a:cs typeface="Alexandria SemiBold" pitchFamily="34" charset="-120"/>
              </a:rPr>
              <a:t>Interactive UX</a:t>
            </a:r>
            <a:endParaRPr lang="en-US" sz="1850" dirty="0"/>
          </a:p>
        </p:txBody>
      </p:sp>
      <p:sp>
        <p:nvSpPr>
          <p:cNvPr id="12" name="Text 9"/>
          <p:cNvSpPr/>
          <p:nvPr/>
        </p:nvSpPr>
        <p:spPr>
          <a:xfrm>
            <a:off x="818733" y="4976912"/>
            <a:ext cx="5982344" cy="57785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Streamlit dashboard enables validation, correction, export, and monitoring in real time.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917476"/>
            <a:ext cx="10927878" cy="593923"/>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Alexandria SemiBold" pitchFamily="34" charset="0"/>
                <a:ea typeface="Alexandria SemiBold" pitchFamily="34" charset="-122"/>
                <a:cs typeface="Alexandria SemiBold" pitchFamily="34" charset="-120"/>
              </a:rPr>
              <a:t>Project Overview</a:t>
            </a:r>
            <a:endParaRPr lang="en-US" sz="3700" dirty="0"/>
          </a:p>
        </p:txBody>
      </p:sp>
      <p:pic>
        <p:nvPicPr>
          <p:cNvPr id="3" name="Image 0" descr="preencoded.png">    </p:cNvPr>
          <p:cNvPicPr>
            <a:picLocks noChangeAspect="1"/>
          </p:cNvPicPr>
          <p:nvPr/>
        </p:nvPicPr>
        <p:blipFill>
          <a:blip r:embed="rId1"/>
          <a:stretch>
            <a:fillRect/>
          </a:stretch>
        </p:blipFill>
        <p:spPr>
          <a:xfrm>
            <a:off x="631908" y="2629297"/>
            <a:ext cx="4106760" cy="2464098"/>
          </a:xfrm>
          <a:prstGeom prst="rect">
            <a:avLst/>
          </a:prstGeom>
        </p:spPr>
      </p:pic>
      <p:sp>
        <p:nvSpPr>
          <p:cNvPr id="4" name="Text 1"/>
          <p:cNvSpPr/>
          <p:nvPr/>
        </p:nvSpPr>
        <p:spPr>
          <a:xfrm>
            <a:off x="5185538" y="1962646"/>
            <a:ext cx="6380499" cy="296863"/>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Alexandria SemiBold" pitchFamily="34" charset="0"/>
                <a:ea typeface="Alexandria SemiBold" pitchFamily="34" charset="-122"/>
                <a:cs typeface="Alexandria SemiBold" pitchFamily="34" charset="-120"/>
              </a:rPr>
              <a:t>Problem</a:t>
            </a:r>
            <a:endParaRPr lang="en-US" sz="1850" dirty="0"/>
          </a:p>
        </p:txBody>
      </p:sp>
      <p:sp>
        <p:nvSpPr>
          <p:cNvPr id="5" name="Text 2"/>
          <p:cNvSpPr/>
          <p:nvPr/>
        </p:nvSpPr>
        <p:spPr>
          <a:xfrm>
            <a:off x="5185538" y="2439988"/>
            <a:ext cx="6380499" cy="57785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Manual invoice entry is labor-intensive, costly, slow, and error-prone—creating delays and reconciliation headaches.</a:t>
            </a:r>
            <a:endParaRPr lang="en-US" sz="1400" dirty="0"/>
          </a:p>
        </p:txBody>
      </p:sp>
      <p:sp>
        <p:nvSpPr>
          <p:cNvPr id="6" name="Text 3"/>
          <p:cNvSpPr/>
          <p:nvPr/>
        </p:nvSpPr>
        <p:spPr>
          <a:xfrm>
            <a:off x="5185538" y="3198316"/>
            <a:ext cx="6380499" cy="296863"/>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Alexandria SemiBold" pitchFamily="34" charset="0"/>
                <a:ea typeface="Alexandria SemiBold" pitchFamily="34" charset="-122"/>
                <a:cs typeface="Alexandria SemiBold" pitchFamily="34" charset="-120"/>
              </a:rPr>
              <a:t>Solution</a:t>
            </a:r>
            <a:endParaRPr lang="en-US" sz="1850" dirty="0"/>
          </a:p>
        </p:txBody>
      </p:sp>
      <p:sp>
        <p:nvSpPr>
          <p:cNvPr id="7" name="Text 4"/>
          <p:cNvSpPr/>
          <p:nvPr/>
        </p:nvSpPr>
        <p:spPr>
          <a:xfrm>
            <a:off x="5185538" y="3675658"/>
            <a:ext cx="6380499" cy="86677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An automated pipeline that ingests PDFs/images, extracts vendor, dates, line-items, totals, taxes, and outputs validated JSON/CSV for accounting systems.</a:t>
            </a:r>
            <a:endParaRPr lang="en-US" sz="1400" dirty="0"/>
          </a:p>
        </p:txBody>
      </p:sp>
      <p:sp>
        <p:nvSpPr>
          <p:cNvPr id="8" name="Text 5"/>
          <p:cNvSpPr/>
          <p:nvPr/>
        </p:nvSpPr>
        <p:spPr>
          <a:xfrm>
            <a:off x="5185538" y="4722912"/>
            <a:ext cx="6380499" cy="296863"/>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Alexandria SemiBold" pitchFamily="34" charset="0"/>
                <a:ea typeface="Alexandria SemiBold" pitchFamily="34" charset="-122"/>
                <a:cs typeface="Alexandria SemiBold" pitchFamily="34" charset="-120"/>
              </a:rPr>
              <a:t>Goal</a:t>
            </a:r>
            <a:endParaRPr lang="en-US" sz="1850" dirty="0"/>
          </a:p>
        </p:txBody>
      </p:sp>
      <p:sp>
        <p:nvSpPr>
          <p:cNvPr id="9" name="Text 6"/>
          <p:cNvSpPr/>
          <p:nvPr/>
        </p:nvSpPr>
        <p:spPr>
          <a:xfrm>
            <a:off x="5185538" y="5200253"/>
            <a:ext cx="6380499" cy="57785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Deliver a scalable, secure, user-friendly platform that raises data quality and reduces AP cycle time.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31908" y="557709"/>
            <a:ext cx="6355993" cy="1128316"/>
          </a:xfrm>
          <a:prstGeom prst="rect">
            <a:avLst/>
          </a:prstGeom>
          <a:noFill/>
          <a:ln/>
        </p:spPr>
        <p:txBody>
          <a:bodyPr wrap="square" lIns="0" tIns="0" rIns="0" bIns="0" rtlCol="0" anchor="t">
            <a:normAutofit/>
          </a:bodyPr>
          <a:lstStyle/>
          <a:p>
            <a:pPr algn="l" indent="0" marL="0">
              <a:lnSpc>
                <a:spcPct val="104000"/>
              </a:lnSpc>
              <a:buNone/>
            </a:pPr>
            <a:r>
              <a:rPr lang="en-US" sz="3550" dirty="0">
                <a:solidFill>
                  <a:srgbClr val="1F1E1E"/>
                </a:solidFill>
                <a:latin typeface="Alexandria SemiBold" pitchFamily="34" charset="0"/>
                <a:ea typeface="Alexandria SemiBold" pitchFamily="34" charset="-122"/>
                <a:cs typeface="Alexandria SemiBold" pitchFamily="34" charset="-120"/>
              </a:rPr>
              <a:t>Existing System: The Manual Hurdle</a:t>
            </a:r>
            <a:endParaRPr lang="en-US" sz="3550" dirty="0"/>
          </a:p>
        </p:txBody>
      </p:sp>
      <p:sp>
        <p:nvSpPr>
          <p:cNvPr id="4" name="Shape 1"/>
          <p:cNvSpPr/>
          <p:nvPr/>
        </p:nvSpPr>
        <p:spPr>
          <a:xfrm>
            <a:off x="631908" y="2021483"/>
            <a:ext cx="85723" cy="85725"/>
          </a:xfrm>
          <a:prstGeom prst="ellipse">
            <a:avLst/>
          </a:prstGeom>
          <a:solidFill>
            <a:srgbClr val="1A2D7A"/>
          </a:solidFill>
          <a:ln/>
        </p:spPr>
      </p:sp>
      <p:sp>
        <p:nvSpPr>
          <p:cNvPr id="5" name="Text 2"/>
          <p:cNvSpPr/>
          <p:nvPr/>
        </p:nvSpPr>
        <p:spPr>
          <a:xfrm>
            <a:off x="880544" y="1930400"/>
            <a:ext cx="6107357" cy="282079"/>
          </a:xfrm>
          <a:prstGeom prst="rect">
            <a:avLst/>
          </a:prstGeom>
          <a:noFill/>
          <a:ln/>
        </p:spPr>
        <p:txBody>
          <a:bodyPr wrap="none" lIns="0" tIns="0" rIns="0" bIns="0" rtlCol="0" anchor="t"/>
          <a:lstStyle/>
          <a:p>
            <a:pPr algn="l" indent="0" marL="0">
              <a:lnSpc>
                <a:spcPct val="104000"/>
              </a:lnSpc>
              <a:buNone/>
            </a:pPr>
            <a:r>
              <a:rPr lang="en-US" sz="1750" dirty="0">
                <a:solidFill>
                  <a:srgbClr val="3B3535"/>
                </a:solidFill>
                <a:latin typeface="Alexandria SemiBold" pitchFamily="34" charset="0"/>
                <a:ea typeface="Alexandria SemiBold" pitchFamily="34" charset="-122"/>
                <a:cs typeface="Alexandria SemiBold" pitchFamily="34" charset="-120"/>
              </a:rPr>
              <a:t>High Operational Cost</a:t>
            </a:r>
            <a:endParaRPr lang="en-US" sz="1750" dirty="0"/>
          </a:p>
        </p:txBody>
      </p:sp>
      <p:sp>
        <p:nvSpPr>
          <p:cNvPr id="6" name="Text 3"/>
          <p:cNvSpPr/>
          <p:nvPr/>
        </p:nvSpPr>
        <p:spPr>
          <a:xfrm>
            <a:off x="880544" y="2310209"/>
            <a:ext cx="6107357" cy="267593"/>
          </a:xfrm>
          <a:prstGeom prst="rect">
            <a:avLst/>
          </a:prstGeom>
          <a:noFill/>
          <a:ln/>
        </p:spPr>
        <p:txBody>
          <a:bodyPr wrap="none" lIns="0" tIns="0" rIns="0" bIns="0" rtlCol="0" anchor="t"/>
          <a:lstStyle/>
          <a:p>
            <a:pPr algn="l" indent="0" marL="0">
              <a:lnSpc>
                <a:spcPct val="130000"/>
              </a:lnSpc>
              <a:buNone/>
            </a:pPr>
            <a:r>
              <a:rPr lang="en-US" sz="1350" dirty="0">
                <a:solidFill>
                  <a:srgbClr val="3B3535"/>
                </a:solidFill>
                <a:latin typeface="Sora Light" pitchFamily="34" charset="0"/>
                <a:ea typeface="Sora Light" pitchFamily="34" charset="-122"/>
                <a:cs typeface="Sora Light" pitchFamily="34" charset="-120"/>
              </a:rPr>
              <a:t>Dedicated teams required for typing, verification, and correction.</a:t>
            </a:r>
            <a:endParaRPr lang="en-US" sz="1350" dirty="0"/>
          </a:p>
        </p:txBody>
      </p:sp>
      <p:sp>
        <p:nvSpPr>
          <p:cNvPr id="7" name="Shape 4"/>
          <p:cNvSpPr/>
          <p:nvPr/>
        </p:nvSpPr>
        <p:spPr>
          <a:xfrm>
            <a:off x="631908" y="2994720"/>
            <a:ext cx="85723" cy="85725"/>
          </a:xfrm>
          <a:prstGeom prst="ellipse">
            <a:avLst/>
          </a:prstGeom>
          <a:solidFill>
            <a:srgbClr val="1A2D7A"/>
          </a:solidFill>
          <a:ln/>
        </p:spPr>
      </p:sp>
      <p:sp>
        <p:nvSpPr>
          <p:cNvPr id="8" name="Text 5"/>
          <p:cNvSpPr/>
          <p:nvPr/>
        </p:nvSpPr>
        <p:spPr>
          <a:xfrm>
            <a:off x="880544" y="2903637"/>
            <a:ext cx="6107357" cy="282079"/>
          </a:xfrm>
          <a:prstGeom prst="rect">
            <a:avLst/>
          </a:prstGeom>
          <a:noFill/>
          <a:ln/>
        </p:spPr>
        <p:txBody>
          <a:bodyPr wrap="none" lIns="0" tIns="0" rIns="0" bIns="0" rtlCol="0" anchor="t"/>
          <a:lstStyle/>
          <a:p>
            <a:pPr algn="l" indent="0" marL="0">
              <a:lnSpc>
                <a:spcPct val="104000"/>
              </a:lnSpc>
              <a:buNone/>
            </a:pPr>
            <a:r>
              <a:rPr lang="en-US" sz="1750" dirty="0">
                <a:solidFill>
                  <a:srgbClr val="3B3535"/>
                </a:solidFill>
                <a:latin typeface="Alexandria SemiBold" pitchFamily="34" charset="0"/>
                <a:ea typeface="Alexandria SemiBold" pitchFamily="34" charset="-122"/>
                <a:cs typeface="Alexandria SemiBold" pitchFamily="34" charset="-120"/>
              </a:rPr>
              <a:t>Inefficient Turnaround</a:t>
            </a:r>
            <a:endParaRPr lang="en-US" sz="1750" dirty="0"/>
          </a:p>
        </p:txBody>
      </p:sp>
      <p:sp>
        <p:nvSpPr>
          <p:cNvPr id="9" name="Text 6"/>
          <p:cNvSpPr/>
          <p:nvPr/>
        </p:nvSpPr>
        <p:spPr>
          <a:xfrm>
            <a:off x="880544" y="3283446"/>
            <a:ext cx="6107357" cy="535186"/>
          </a:xfrm>
          <a:prstGeom prst="rect">
            <a:avLst/>
          </a:prstGeom>
          <a:noFill/>
          <a:ln/>
        </p:spPr>
        <p:txBody>
          <a:bodyPr wrap="square" lIns="0" tIns="0" rIns="0" bIns="0" rtlCol="0" anchor="t">
            <a:normAutofit/>
          </a:bodyPr>
          <a:lstStyle/>
          <a:p>
            <a:pPr algn="l" indent="0" marL="0">
              <a:lnSpc>
                <a:spcPct val="130000"/>
              </a:lnSpc>
              <a:buNone/>
            </a:pPr>
            <a:r>
              <a:rPr lang="en-US" sz="1350" dirty="0">
                <a:solidFill>
                  <a:srgbClr val="3B3535"/>
                </a:solidFill>
                <a:latin typeface="Sora Light" pitchFamily="34" charset="0"/>
                <a:ea typeface="Sora Light" pitchFamily="34" charset="-122"/>
                <a:cs typeface="Sora Light" pitchFamily="34" charset="-120"/>
              </a:rPr>
              <a:t>Latency between receipt and ERP entry causes payment delays and cash-flow issues.</a:t>
            </a:r>
            <a:endParaRPr lang="en-US" sz="1350" dirty="0"/>
          </a:p>
        </p:txBody>
      </p:sp>
      <p:sp>
        <p:nvSpPr>
          <p:cNvPr id="10" name="Shape 7"/>
          <p:cNvSpPr/>
          <p:nvPr/>
        </p:nvSpPr>
        <p:spPr>
          <a:xfrm>
            <a:off x="631908" y="4235549"/>
            <a:ext cx="85723" cy="85725"/>
          </a:xfrm>
          <a:prstGeom prst="ellipse">
            <a:avLst/>
          </a:prstGeom>
          <a:solidFill>
            <a:srgbClr val="1A2D7A"/>
          </a:solidFill>
          <a:ln/>
        </p:spPr>
      </p:sp>
      <p:sp>
        <p:nvSpPr>
          <p:cNvPr id="11" name="Text 8"/>
          <p:cNvSpPr/>
          <p:nvPr/>
        </p:nvSpPr>
        <p:spPr>
          <a:xfrm>
            <a:off x="880544" y="4144466"/>
            <a:ext cx="6107357" cy="282079"/>
          </a:xfrm>
          <a:prstGeom prst="rect">
            <a:avLst/>
          </a:prstGeom>
          <a:noFill/>
          <a:ln/>
        </p:spPr>
        <p:txBody>
          <a:bodyPr wrap="none" lIns="0" tIns="0" rIns="0" bIns="0" rtlCol="0" anchor="t"/>
          <a:lstStyle/>
          <a:p>
            <a:pPr algn="l" indent="0" marL="0">
              <a:lnSpc>
                <a:spcPct val="104000"/>
              </a:lnSpc>
              <a:buNone/>
            </a:pPr>
            <a:r>
              <a:rPr lang="en-US" sz="1750" dirty="0">
                <a:solidFill>
                  <a:srgbClr val="3B3535"/>
                </a:solidFill>
                <a:latin typeface="Alexandria SemiBold" pitchFamily="34" charset="0"/>
                <a:ea typeface="Alexandria SemiBold" pitchFamily="34" charset="-122"/>
                <a:cs typeface="Alexandria SemiBold" pitchFamily="34" charset="-120"/>
              </a:rPr>
              <a:t>Error-Prone</a:t>
            </a:r>
            <a:endParaRPr lang="en-US" sz="1750" dirty="0"/>
          </a:p>
        </p:txBody>
      </p:sp>
      <p:sp>
        <p:nvSpPr>
          <p:cNvPr id="12" name="Text 9"/>
          <p:cNvSpPr/>
          <p:nvPr/>
        </p:nvSpPr>
        <p:spPr>
          <a:xfrm>
            <a:off x="880544" y="4524276"/>
            <a:ext cx="6107357" cy="535186"/>
          </a:xfrm>
          <a:prstGeom prst="rect">
            <a:avLst/>
          </a:prstGeom>
          <a:noFill/>
          <a:ln/>
        </p:spPr>
        <p:txBody>
          <a:bodyPr wrap="square" lIns="0" tIns="0" rIns="0" bIns="0" rtlCol="0" anchor="t">
            <a:normAutofit/>
          </a:bodyPr>
          <a:lstStyle/>
          <a:p>
            <a:pPr algn="l" indent="0" marL="0">
              <a:lnSpc>
                <a:spcPct val="130000"/>
              </a:lnSpc>
              <a:buNone/>
            </a:pPr>
            <a:r>
              <a:rPr lang="en-US" sz="1350" dirty="0">
                <a:solidFill>
                  <a:srgbClr val="3B3535"/>
                </a:solidFill>
                <a:latin typeface="Sora Light" pitchFamily="34" charset="0"/>
                <a:ea typeface="Sora Light" pitchFamily="34" charset="-122"/>
                <a:cs typeface="Sora Light" pitchFamily="34" charset="-120"/>
              </a:rPr>
              <a:t>Human mistakes on invoice numbers, amounts, and tax calculations require rework.</a:t>
            </a:r>
            <a:endParaRPr lang="en-US" sz="1350" dirty="0"/>
          </a:p>
        </p:txBody>
      </p:sp>
      <p:sp>
        <p:nvSpPr>
          <p:cNvPr id="13" name="Shape 10"/>
          <p:cNvSpPr/>
          <p:nvPr/>
        </p:nvSpPr>
        <p:spPr>
          <a:xfrm>
            <a:off x="631908" y="5476379"/>
            <a:ext cx="85723" cy="85725"/>
          </a:xfrm>
          <a:prstGeom prst="ellipse">
            <a:avLst/>
          </a:prstGeom>
          <a:solidFill>
            <a:srgbClr val="1A2D7A"/>
          </a:solidFill>
          <a:ln/>
        </p:spPr>
      </p:sp>
      <p:sp>
        <p:nvSpPr>
          <p:cNvPr id="14" name="Text 11"/>
          <p:cNvSpPr/>
          <p:nvPr/>
        </p:nvSpPr>
        <p:spPr>
          <a:xfrm>
            <a:off x="880544" y="5385296"/>
            <a:ext cx="6107357" cy="282079"/>
          </a:xfrm>
          <a:prstGeom prst="rect">
            <a:avLst/>
          </a:prstGeom>
          <a:noFill/>
          <a:ln/>
        </p:spPr>
        <p:txBody>
          <a:bodyPr wrap="none" lIns="0" tIns="0" rIns="0" bIns="0" rtlCol="0" anchor="t"/>
          <a:lstStyle/>
          <a:p>
            <a:pPr algn="l" indent="0" marL="0">
              <a:lnSpc>
                <a:spcPct val="104000"/>
              </a:lnSpc>
              <a:buNone/>
            </a:pPr>
            <a:r>
              <a:rPr lang="en-US" sz="1750" dirty="0">
                <a:solidFill>
                  <a:srgbClr val="3B3535"/>
                </a:solidFill>
                <a:latin typeface="Alexandria SemiBold" pitchFamily="34" charset="0"/>
                <a:ea typeface="Alexandria SemiBold" pitchFamily="34" charset="-122"/>
                <a:cs typeface="Alexandria SemiBold" pitchFamily="34" charset="-120"/>
              </a:rPr>
              <a:t>Scalability Limits</a:t>
            </a:r>
            <a:endParaRPr lang="en-US" sz="1750" dirty="0"/>
          </a:p>
        </p:txBody>
      </p:sp>
      <p:sp>
        <p:nvSpPr>
          <p:cNvPr id="15" name="Text 12"/>
          <p:cNvSpPr/>
          <p:nvPr/>
        </p:nvSpPr>
        <p:spPr>
          <a:xfrm>
            <a:off x="880544" y="5765105"/>
            <a:ext cx="6107357" cy="535186"/>
          </a:xfrm>
          <a:prstGeom prst="rect">
            <a:avLst/>
          </a:prstGeom>
          <a:noFill/>
          <a:ln/>
        </p:spPr>
        <p:txBody>
          <a:bodyPr wrap="square" lIns="0" tIns="0" rIns="0" bIns="0" rtlCol="0" anchor="t">
            <a:normAutofit/>
          </a:bodyPr>
          <a:lstStyle/>
          <a:p>
            <a:pPr algn="l" indent="0" marL="0">
              <a:lnSpc>
                <a:spcPct val="130000"/>
              </a:lnSpc>
              <a:buNone/>
            </a:pPr>
            <a:r>
              <a:rPr lang="en-US" sz="1350" dirty="0">
                <a:solidFill>
                  <a:srgbClr val="3B3535"/>
                </a:solidFill>
                <a:latin typeface="Sora Light" pitchFamily="34" charset="0"/>
                <a:ea typeface="Sora Light" pitchFamily="34" charset="-122"/>
                <a:cs typeface="Sora Light" pitchFamily="34" charset="-120"/>
              </a:rPr>
              <a:t>Difficulty handling spikes in vendor volume or multi-format documents.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621209"/>
            <a:ext cx="10927878" cy="504726"/>
          </a:xfrm>
          <a:prstGeom prst="rect">
            <a:avLst/>
          </a:prstGeom>
          <a:noFill/>
          <a:ln/>
        </p:spPr>
        <p:txBody>
          <a:bodyPr wrap="none" lIns="0" tIns="0" rIns="0" bIns="0" rtlCol="0" anchor="t"/>
          <a:lstStyle/>
          <a:p>
            <a:pPr algn="l" indent="0" marL="0">
              <a:lnSpc>
                <a:spcPct val="104000"/>
              </a:lnSpc>
              <a:buNone/>
            </a:pPr>
            <a:r>
              <a:rPr lang="en-US" sz="3150" dirty="0">
                <a:solidFill>
                  <a:srgbClr val="1F1E1E"/>
                </a:solidFill>
                <a:latin typeface="Alexandria SemiBold" pitchFamily="34" charset="0"/>
                <a:ea typeface="Alexandria SemiBold" pitchFamily="34" charset="-122"/>
                <a:cs typeface="Alexandria SemiBold" pitchFamily="34" charset="-120"/>
              </a:rPr>
              <a:t>Proposed System: Intelligent Automation</a:t>
            </a:r>
            <a:endParaRPr lang="en-US" sz="3150" dirty="0"/>
          </a:p>
        </p:txBody>
      </p:sp>
      <p:sp>
        <p:nvSpPr>
          <p:cNvPr id="3" name="Text 1"/>
          <p:cNvSpPr/>
          <p:nvPr/>
        </p:nvSpPr>
        <p:spPr>
          <a:xfrm>
            <a:off x="631908" y="1438970"/>
            <a:ext cx="5886303" cy="227112"/>
          </a:xfrm>
          <a:prstGeom prst="rect">
            <a:avLst/>
          </a:prstGeom>
          <a:noFill/>
          <a:ln/>
        </p:spPr>
        <p:txBody>
          <a:bodyPr wrap="none" lIns="0" tIns="0" rIns="0" bIns="0" rtlCol="0" anchor="t"/>
          <a:lstStyle/>
          <a:p>
            <a:pPr algn="l" indent="0" marL="0">
              <a:lnSpc>
                <a:spcPct val="123000"/>
              </a:lnSpc>
              <a:buNone/>
            </a:pPr>
            <a:r>
              <a:rPr lang="en-US" sz="1200" dirty="0">
                <a:solidFill>
                  <a:srgbClr val="3B3535"/>
                </a:solidFill>
                <a:latin typeface="Sora Light" pitchFamily="34" charset="0"/>
                <a:ea typeface="Sora Light" pitchFamily="34" charset="-122"/>
                <a:cs typeface="Sora Light" pitchFamily="34" charset="-120"/>
              </a:rPr>
              <a:t>Pipeline highlights from ingestion to export:</a:t>
            </a:r>
            <a:endParaRPr lang="en-US" sz="1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908" y="1812826"/>
            <a:ext cx="2573174" cy="2073374"/>
          </a:xfrm>
          <a:prstGeom prst="rect">
            <a:avLst/>
          </a:prstGeom>
        </p:spPr>
      </p:pic>
      <p:sp>
        <p:nvSpPr>
          <p:cNvPr id="5" name="Text 2"/>
          <p:cNvSpPr/>
          <p:nvPr/>
        </p:nvSpPr>
        <p:spPr>
          <a:xfrm>
            <a:off x="1803355" y="1915021"/>
            <a:ext cx="230182" cy="287734"/>
          </a:xfrm>
          <a:prstGeom prst="rect">
            <a:avLst/>
          </a:prstGeom>
          <a:noFill/>
          <a:ln/>
        </p:spPr>
        <p:txBody>
          <a:bodyPr wrap="none" lIns="0" tIns="0" rIns="0" bIns="0" rtlCol="0" anchor="ctr"/>
          <a:lstStyle/>
          <a:p>
            <a:pPr algn="ctr" indent="0" marL="0">
              <a:lnSpc>
                <a:spcPct val="100000"/>
              </a:lnSpc>
              <a:buNone/>
            </a:pPr>
            <a:r>
              <a:rPr lang="en-US" sz="1800" dirty="0">
                <a:solidFill>
                  <a:srgbClr val="3B3535"/>
                </a:solidFill>
                <a:latin typeface="Alexandria SemiBold" pitchFamily="34" charset="0"/>
                <a:ea typeface="Alexandria SemiBold" pitchFamily="34" charset="-122"/>
                <a:cs typeface="Alexandria SemiBold" pitchFamily="34" charset="-120"/>
              </a:rPr>
              <a:t>1</a:t>
            </a:r>
            <a:endParaRPr lang="en-US" sz="1800" dirty="0"/>
          </a:p>
        </p:txBody>
      </p:sp>
      <p:sp>
        <p:nvSpPr>
          <p:cNvPr id="6" name="Text 3"/>
          <p:cNvSpPr/>
          <p:nvPr/>
        </p:nvSpPr>
        <p:spPr>
          <a:xfrm>
            <a:off x="804346" y="2422624"/>
            <a:ext cx="2228298" cy="25231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Alexandria SemiBold" pitchFamily="34" charset="0"/>
                <a:ea typeface="Alexandria SemiBold" pitchFamily="34" charset="-122"/>
                <a:cs typeface="Alexandria SemiBold" pitchFamily="34" charset="-120"/>
              </a:rPr>
              <a:t>1. Pre-processing</a:t>
            </a:r>
            <a:endParaRPr lang="en-US" sz="1550" dirty="0"/>
          </a:p>
        </p:txBody>
      </p:sp>
      <p:sp>
        <p:nvSpPr>
          <p:cNvPr id="7" name="Text 4"/>
          <p:cNvSpPr/>
          <p:nvPr/>
        </p:nvSpPr>
        <p:spPr>
          <a:xfrm>
            <a:off x="804346" y="2805311"/>
            <a:ext cx="2228298" cy="908447"/>
          </a:xfrm>
          <a:prstGeom prst="rect">
            <a:avLst/>
          </a:prstGeom>
          <a:noFill/>
          <a:ln/>
        </p:spPr>
        <p:txBody>
          <a:bodyPr wrap="square" lIns="0" tIns="0" rIns="0" bIns="0" rtlCol="0" anchor="t">
            <a:normAutofit/>
          </a:bodyPr>
          <a:lstStyle/>
          <a:p>
            <a:pPr algn="l" indent="0" marL="0">
              <a:lnSpc>
                <a:spcPct val="123000"/>
              </a:lnSpc>
              <a:buNone/>
            </a:pPr>
            <a:r>
              <a:rPr lang="en-US" sz="1200" dirty="0">
                <a:solidFill>
                  <a:srgbClr val="3B3535"/>
                </a:solidFill>
                <a:latin typeface="Sora Light" pitchFamily="34" charset="0"/>
                <a:ea typeface="Sora Light" pitchFamily="34" charset="-122"/>
                <a:cs typeface="Sora Light" pitchFamily="34" charset="-120"/>
              </a:rPr>
              <a:t>Image enhancement (grayscale, denoise, de-skew), PDF rasterization, and DPI normalization.</a:t>
            </a:r>
            <a:endParaRPr lang="en-US" sz="12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5452" y="1812826"/>
            <a:ext cx="2573174" cy="2073374"/>
          </a:xfrm>
          <a:prstGeom prst="rect">
            <a:avLst/>
          </a:prstGeom>
        </p:spPr>
      </p:pic>
      <p:sp>
        <p:nvSpPr>
          <p:cNvPr id="9" name="Text 5"/>
          <p:cNvSpPr/>
          <p:nvPr/>
        </p:nvSpPr>
        <p:spPr>
          <a:xfrm>
            <a:off x="4506899" y="1915021"/>
            <a:ext cx="230182" cy="287734"/>
          </a:xfrm>
          <a:prstGeom prst="rect">
            <a:avLst/>
          </a:prstGeom>
          <a:noFill/>
          <a:ln/>
        </p:spPr>
        <p:txBody>
          <a:bodyPr wrap="none" lIns="0" tIns="0" rIns="0" bIns="0" rtlCol="0" anchor="ctr"/>
          <a:lstStyle/>
          <a:p>
            <a:pPr algn="ctr" indent="0" marL="0">
              <a:lnSpc>
                <a:spcPct val="100000"/>
              </a:lnSpc>
              <a:buNone/>
            </a:pPr>
            <a:r>
              <a:rPr lang="en-US" sz="1800" dirty="0">
                <a:solidFill>
                  <a:srgbClr val="3B3535"/>
                </a:solidFill>
                <a:latin typeface="Alexandria SemiBold" pitchFamily="34" charset="0"/>
                <a:ea typeface="Alexandria SemiBold" pitchFamily="34" charset="-122"/>
                <a:cs typeface="Alexandria SemiBold" pitchFamily="34" charset="-120"/>
              </a:rPr>
              <a:t>2</a:t>
            </a:r>
            <a:endParaRPr lang="en-US" sz="1800" dirty="0"/>
          </a:p>
        </p:txBody>
      </p:sp>
      <p:sp>
        <p:nvSpPr>
          <p:cNvPr id="10" name="Text 6"/>
          <p:cNvSpPr/>
          <p:nvPr/>
        </p:nvSpPr>
        <p:spPr>
          <a:xfrm>
            <a:off x="3507890" y="2422624"/>
            <a:ext cx="2228298" cy="25231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Alexandria SemiBold" pitchFamily="34" charset="0"/>
                <a:ea typeface="Alexandria SemiBold" pitchFamily="34" charset="-122"/>
                <a:cs typeface="Alexandria SemiBold" pitchFamily="34" charset="-120"/>
              </a:rPr>
              <a:t>2. OCR Layer</a:t>
            </a:r>
            <a:endParaRPr lang="en-US" sz="1550" dirty="0"/>
          </a:p>
        </p:txBody>
      </p:sp>
      <p:sp>
        <p:nvSpPr>
          <p:cNvPr id="11" name="Text 7"/>
          <p:cNvSpPr/>
          <p:nvPr/>
        </p:nvSpPr>
        <p:spPr>
          <a:xfrm>
            <a:off x="3507890" y="2805311"/>
            <a:ext cx="2228298" cy="681335"/>
          </a:xfrm>
          <a:prstGeom prst="rect">
            <a:avLst/>
          </a:prstGeom>
          <a:noFill/>
          <a:ln/>
        </p:spPr>
        <p:txBody>
          <a:bodyPr wrap="square" lIns="0" tIns="0" rIns="0" bIns="0" rtlCol="0" anchor="t">
            <a:normAutofit/>
          </a:bodyPr>
          <a:lstStyle/>
          <a:p>
            <a:pPr algn="l" indent="0" marL="0">
              <a:lnSpc>
                <a:spcPct val="123000"/>
              </a:lnSpc>
              <a:buNone/>
            </a:pPr>
            <a:r>
              <a:rPr lang="en-US" sz="1200" dirty="0">
                <a:solidFill>
                  <a:srgbClr val="3B3535"/>
                </a:solidFill>
                <a:latin typeface="Sora Light" pitchFamily="34" charset="0"/>
                <a:ea typeface="Sora Light" pitchFamily="34" charset="-122"/>
                <a:cs typeface="Sora Light" pitchFamily="34" charset="-120"/>
              </a:rPr>
              <a:t>Tesseract or PaddleOCR produces raw text with layout coordinates.</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 y="4016573"/>
            <a:ext cx="2573174" cy="2073374"/>
          </a:xfrm>
          <a:prstGeom prst="rect">
            <a:avLst/>
          </a:prstGeom>
        </p:spPr>
      </p:pic>
      <p:sp>
        <p:nvSpPr>
          <p:cNvPr id="13" name="Text 8"/>
          <p:cNvSpPr/>
          <p:nvPr/>
        </p:nvSpPr>
        <p:spPr>
          <a:xfrm>
            <a:off x="1803355" y="4118769"/>
            <a:ext cx="230182" cy="287734"/>
          </a:xfrm>
          <a:prstGeom prst="rect">
            <a:avLst/>
          </a:prstGeom>
          <a:noFill/>
          <a:ln/>
        </p:spPr>
        <p:txBody>
          <a:bodyPr wrap="none" lIns="0" tIns="0" rIns="0" bIns="0" rtlCol="0" anchor="ctr"/>
          <a:lstStyle/>
          <a:p>
            <a:pPr algn="ctr" indent="0" marL="0">
              <a:lnSpc>
                <a:spcPct val="100000"/>
              </a:lnSpc>
              <a:buNone/>
            </a:pPr>
            <a:r>
              <a:rPr lang="en-US" sz="1800" dirty="0">
                <a:solidFill>
                  <a:srgbClr val="3B3535"/>
                </a:solidFill>
                <a:latin typeface="Alexandria SemiBold" pitchFamily="34" charset="0"/>
                <a:ea typeface="Alexandria SemiBold" pitchFamily="34" charset="-122"/>
                <a:cs typeface="Alexandria SemiBold" pitchFamily="34" charset="-120"/>
              </a:rPr>
              <a:t>3</a:t>
            </a:r>
            <a:endParaRPr lang="en-US" sz="1800" dirty="0"/>
          </a:p>
        </p:txBody>
      </p:sp>
      <p:sp>
        <p:nvSpPr>
          <p:cNvPr id="14" name="Text 9"/>
          <p:cNvSpPr/>
          <p:nvPr/>
        </p:nvSpPr>
        <p:spPr>
          <a:xfrm>
            <a:off x="804346" y="4626372"/>
            <a:ext cx="2228298" cy="25231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Alexandria SemiBold" pitchFamily="34" charset="0"/>
                <a:ea typeface="Alexandria SemiBold" pitchFamily="34" charset="-122"/>
                <a:cs typeface="Alexandria SemiBold" pitchFamily="34" charset="-120"/>
              </a:rPr>
              <a:t>3. AI Engine</a:t>
            </a:r>
            <a:endParaRPr lang="en-US" sz="1550" dirty="0"/>
          </a:p>
        </p:txBody>
      </p:sp>
      <p:sp>
        <p:nvSpPr>
          <p:cNvPr id="15" name="Text 10"/>
          <p:cNvSpPr/>
          <p:nvPr/>
        </p:nvSpPr>
        <p:spPr>
          <a:xfrm>
            <a:off x="804346" y="5009059"/>
            <a:ext cx="2228298" cy="908447"/>
          </a:xfrm>
          <a:prstGeom prst="rect">
            <a:avLst/>
          </a:prstGeom>
          <a:noFill/>
          <a:ln/>
        </p:spPr>
        <p:txBody>
          <a:bodyPr wrap="square" lIns="0" tIns="0" rIns="0" bIns="0" rtlCol="0" anchor="t">
            <a:normAutofit/>
          </a:bodyPr>
          <a:lstStyle/>
          <a:p>
            <a:pPr algn="l" indent="0" marL="0">
              <a:lnSpc>
                <a:spcPct val="123000"/>
              </a:lnSpc>
              <a:buNone/>
            </a:pPr>
            <a:r>
              <a:rPr lang="en-US" sz="1200" dirty="0">
                <a:solidFill>
                  <a:srgbClr val="3B3535"/>
                </a:solidFill>
                <a:latin typeface="Sora Light" pitchFamily="34" charset="0"/>
                <a:ea typeface="Sora Light" pitchFamily="34" charset="-122"/>
                <a:cs typeface="Sora Light" pitchFamily="34" charset="-120"/>
              </a:rPr>
              <a:t>LLMs (Gemini / Llama 3 via Ollama) perform semantic parsing into structured JSON.</a:t>
            </a:r>
            <a:endParaRPr lang="en-US" sz="12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35452" y="4016573"/>
            <a:ext cx="2573174" cy="2073374"/>
          </a:xfrm>
          <a:prstGeom prst="rect">
            <a:avLst/>
          </a:prstGeom>
        </p:spPr>
      </p:pic>
      <p:sp>
        <p:nvSpPr>
          <p:cNvPr id="17" name="Text 11"/>
          <p:cNvSpPr/>
          <p:nvPr/>
        </p:nvSpPr>
        <p:spPr>
          <a:xfrm>
            <a:off x="4506899" y="4118769"/>
            <a:ext cx="230182" cy="287734"/>
          </a:xfrm>
          <a:prstGeom prst="rect">
            <a:avLst/>
          </a:prstGeom>
          <a:noFill/>
          <a:ln/>
        </p:spPr>
        <p:txBody>
          <a:bodyPr wrap="none" lIns="0" tIns="0" rIns="0" bIns="0" rtlCol="0" anchor="ctr"/>
          <a:lstStyle/>
          <a:p>
            <a:pPr algn="ctr" indent="0" marL="0">
              <a:lnSpc>
                <a:spcPct val="100000"/>
              </a:lnSpc>
              <a:buNone/>
            </a:pPr>
            <a:r>
              <a:rPr lang="en-US" sz="1800" dirty="0">
                <a:solidFill>
                  <a:srgbClr val="3B3535"/>
                </a:solidFill>
                <a:latin typeface="Alexandria SemiBold" pitchFamily="34" charset="0"/>
                <a:ea typeface="Alexandria SemiBold" pitchFamily="34" charset="-122"/>
                <a:cs typeface="Alexandria SemiBold" pitchFamily="34" charset="-120"/>
              </a:rPr>
              <a:t>4</a:t>
            </a:r>
            <a:endParaRPr lang="en-US" sz="1800" dirty="0"/>
          </a:p>
        </p:txBody>
      </p:sp>
      <p:sp>
        <p:nvSpPr>
          <p:cNvPr id="18" name="Text 12"/>
          <p:cNvSpPr/>
          <p:nvPr/>
        </p:nvSpPr>
        <p:spPr>
          <a:xfrm>
            <a:off x="3507890" y="4626372"/>
            <a:ext cx="2228298" cy="252313"/>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Alexandria SemiBold" pitchFamily="34" charset="0"/>
                <a:ea typeface="Alexandria SemiBold" pitchFamily="34" charset="-122"/>
                <a:cs typeface="Alexandria SemiBold" pitchFamily="34" charset="-120"/>
              </a:rPr>
              <a:t>4. Interface</a:t>
            </a:r>
            <a:endParaRPr lang="en-US" sz="1550" dirty="0"/>
          </a:p>
        </p:txBody>
      </p:sp>
      <p:sp>
        <p:nvSpPr>
          <p:cNvPr id="19" name="Text 13"/>
          <p:cNvSpPr/>
          <p:nvPr/>
        </p:nvSpPr>
        <p:spPr>
          <a:xfrm>
            <a:off x="3507890" y="5009059"/>
            <a:ext cx="2228298" cy="908447"/>
          </a:xfrm>
          <a:prstGeom prst="rect">
            <a:avLst/>
          </a:prstGeom>
          <a:noFill/>
          <a:ln/>
        </p:spPr>
        <p:txBody>
          <a:bodyPr wrap="square" lIns="0" tIns="0" rIns="0" bIns="0" rtlCol="0" anchor="t">
            <a:normAutofit/>
          </a:bodyPr>
          <a:lstStyle/>
          <a:p>
            <a:pPr algn="l" indent="0" marL="0">
              <a:lnSpc>
                <a:spcPct val="123000"/>
              </a:lnSpc>
              <a:buNone/>
            </a:pPr>
            <a:r>
              <a:rPr lang="en-US" sz="1200" dirty="0">
                <a:solidFill>
                  <a:srgbClr val="3B3535"/>
                </a:solidFill>
                <a:latin typeface="Sora Light" pitchFamily="34" charset="0"/>
                <a:ea typeface="Sora Light" pitchFamily="34" charset="-122"/>
                <a:cs typeface="Sora Light" pitchFamily="34" charset="-120"/>
              </a:rPr>
              <a:t>Streamlit dashboard for human-in-the-loop validation, analytics, and export.</a:t>
            </a:r>
            <a:endParaRPr lang="en-US" sz="1200" dirty="0"/>
          </a:p>
        </p:txBody>
      </p:sp>
      <p:pic>
        <p:nvPicPr>
          <p:cNvPr id="20" name="Image 4" descr="preencoded.png">    </p:cNvPr>
          <p:cNvPicPr>
            <a:picLocks noChangeAspect="1"/>
          </p:cNvPicPr>
          <p:nvPr/>
        </p:nvPicPr>
        <p:blipFill>
          <a:blip r:embed="rId9"/>
          <a:stretch>
            <a:fillRect/>
          </a:stretch>
        </p:blipFill>
        <p:spPr>
          <a:xfrm>
            <a:off x="6685192" y="2433538"/>
            <a:ext cx="4485171" cy="26911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03794" y="649784"/>
            <a:ext cx="6355993" cy="1187847"/>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1F1E1E"/>
                </a:solidFill>
                <a:latin typeface="Alexandria SemiBold" pitchFamily="34" charset="0"/>
                <a:ea typeface="Alexandria SemiBold" pitchFamily="34" charset="-122"/>
                <a:cs typeface="Alexandria SemiBold" pitchFamily="34" charset="-120"/>
              </a:rPr>
              <a:t>The Mechanism Behind the Magic</a:t>
            </a:r>
            <a:endParaRPr lang="en-US" sz="3700" dirty="0"/>
          </a:p>
        </p:txBody>
      </p:sp>
      <p:pic>
        <p:nvPicPr>
          <p:cNvPr id="4" name="Image 1" descr="preencoded.png">    </p:cNvPr>
          <p:cNvPicPr>
            <a:picLocks noChangeAspect="1"/>
          </p:cNvPicPr>
          <p:nvPr/>
        </p:nvPicPr>
        <p:blipFill>
          <a:blip r:embed="rId2"/>
          <a:stretch>
            <a:fillRect/>
          </a:stretch>
        </p:blipFill>
        <p:spPr>
          <a:xfrm>
            <a:off x="5203794" y="2108398"/>
            <a:ext cx="6355993" cy="2740918"/>
          </a:xfrm>
          <a:prstGeom prst="rect">
            <a:avLst/>
          </a:prstGeom>
        </p:spPr>
      </p:pic>
      <p:sp>
        <p:nvSpPr>
          <p:cNvPr id="5" name="Text 1"/>
          <p:cNvSpPr/>
          <p:nvPr/>
        </p:nvSpPr>
        <p:spPr>
          <a:xfrm>
            <a:off x="5631487" y="4324729"/>
            <a:ext cx="1517762" cy="189763"/>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Alexandria SemiBold" pitchFamily="34" charset="0"/>
                <a:ea typeface="Alexandria SemiBold" pitchFamily="34" charset="-122"/>
                <a:cs typeface="Alexandria SemiBold" pitchFamily="34" charset="-120"/>
              </a:rPr>
              <a:t>Validation &amp; Export</a:t>
            </a:r>
            <a:endParaRPr lang="en-US" sz="1150" dirty="0"/>
          </a:p>
        </p:txBody>
      </p:sp>
      <p:sp>
        <p:nvSpPr>
          <p:cNvPr id="6" name="Text 2"/>
          <p:cNvSpPr/>
          <p:nvPr/>
        </p:nvSpPr>
        <p:spPr>
          <a:xfrm>
            <a:off x="5631487" y="3690251"/>
            <a:ext cx="1702213" cy="189763"/>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Alexandria SemiBold" pitchFamily="34" charset="0"/>
                <a:ea typeface="Alexandria SemiBold" pitchFamily="34" charset="-122"/>
                <a:cs typeface="Alexandria SemiBold" pitchFamily="34" charset="-120"/>
              </a:rPr>
              <a:t>LLM Semantic Parsing</a:t>
            </a:r>
            <a:endParaRPr lang="en-US" sz="1150" dirty="0"/>
          </a:p>
        </p:txBody>
      </p:sp>
      <p:sp>
        <p:nvSpPr>
          <p:cNvPr id="7" name="Text 3"/>
          <p:cNvSpPr/>
          <p:nvPr/>
        </p:nvSpPr>
        <p:spPr>
          <a:xfrm>
            <a:off x="5631487" y="3062181"/>
            <a:ext cx="1517762" cy="189763"/>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Alexandria SemiBold" pitchFamily="34" charset="0"/>
                <a:ea typeface="Alexandria SemiBold" pitchFamily="34" charset="-122"/>
                <a:cs typeface="Alexandria SemiBold" pitchFamily="34" charset="-120"/>
              </a:rPr>
              <a:t>OCR &amp; Layout</a:t>
            </a:r>
            <a:endParaRPr lang="en-US" sz="1150" dirty="0"/>
          </a:p>
        </p:txBody>
      </p:sp>
      <p:sp>
        <p:nvSpPr>
          <p:cNvPr id="8" name="Text 4"/>
          <p:cNvSpPr/>
          <p:nvPr/>
        </p:nvSpPr>
        <p:spPr>
          <a:xfrm>
            <a:off x="5631487" y="2427703"/>
            <a:ext cx="1517762" cy="189762"/>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Alexandria SemiBold" pitchFamily="34" charset="0"/>
                <a:ea typeface="Alexandria SemiBold" pitchFamily="34" charset="-122"/>
                <a:cs typeface="Alexandria SemiBold" pitchFamily="34" charset="-120"/>
              </a:rPr>
              <a:t>Document Ingest</a:t>
            </a:r>
            <a:endParaRPr lang="en-US" sz="1150" dirty="0"/>
          </a:p>
        </p:txBody>
      </p:sp>
      <p:sp>
        <p:nvSpPr>
          <p:cNvPr id="9" name="Text 5"/>
          <p:cNvSpPr/>
          <p:nvPr/>
        </p:nvSpPr>
        <p:spPr>
          <a:xfrm>
            <a:off x="5203794" y="5052417"/>
            <a:ext cx="6355993" cy="115570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Key components: layout analysis to find tables/headers, LLM-based semantic parsing for context-aware entity extraction, confidence scoring to triage human review, and rule-based validation against business logic and expected CSV schemas.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1908" y="1589286"/>
            <a:ext cx="10927878" cy="593923"/>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Alexandria SemiBold" pitchFamily="34" charset="0"/>
                <a:ea typeface="Alexandria SemiBold" pitchFamily="34" charset="-122"/>
                <a:cs typeface="Alexandria SemiBold" pitchFamily="34" charset="-120"/>
              </a:rPr>
              <a:t>Future Enhancements</a:t>
            </a:r>
            <a:endParaRPr lang="en-US" sz="3700" dirty="0"/>
          </a:p>
        </p:txBody>
      </p:sp>
      <p:pic>
        <p:nvPicPr>
          <p:cNvPr id="3" name="Image 0" descr="preencoded.png">    </p:cNvPr>
          <p:cNvPicPr>
            <a:picLocks noChangeAspect="1"/>
          </p:cNvPicPr>
          <p:nvPr/>
        </p:nvPicPr>
        <p:blipFill>
          <a:blip r:embed="rId1"/>
          <a:stretch>
            <a:fillRect/>
          </a:stretch>
        </p:blipFill>
        <p:spPr>
          <a:xfrm>
            <a:off x="631908" y="2544266"/>
            <a:ext cx="743130" cy="928886"/>
          </a:xfrm>
          <a:prstGeom prst="rect">
            <a:avLst/>
          </a:prstGeom>
        </p:spPr>
      </p:pic>
      <p:sp>
        <p:nvSpPr>
          <p:cNvPr id="4" name="Text 1"/>
          <p:cNvSpPr/>
          <p:nvPr/>
        </p:nvSpPr>
        <p:spPr>
          <a:xfrm>
            <a:off x="1600656" y="2544266"/>
            <a:ext cx="1594009" cy="593725"/>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Alexandria SemiBold" pitchFamily="34" charset="0"/>
                <a:ea typeface="Alexandria SemiBold" pitchFamily="34" charset="-122"/>
                <a:cs typeface="Alexandria SemiBold" pitchFamily="34" charset="-120"/>
              </a:rPr>
              <a:t>ERP Integration</a:t>
            </a:r>
            <a:endParaRPr lang="en-US" sz="1850" dirty="0"/>
          </a:p>
        </p:txBody>
      </p:sp>
      <p:sp>
        <p:nvSpPr>
          <p:cNvPr id="5" name="Text 2"/>
          <p:cNvSpPr/>
          <p:nvPr/>
        </p:nvSpPr>
        <p:spPr>
          <a:xfrm>
            <a:off x="1600656" y="3246239"/>
            <a:ext cx="1594009" cy="202247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Bi-directional syncing with SAP, QuickBooks, and Netsuite for automatic posting and reconciliation.</a:t>
            </a:r>
            <a:endParaRPr lang="en-US" sz="1400" dirty="0"/>
          </a:p>
        </p:txBody>
      </p:sp>
      <p:pic>
        <p:nvPicPr>
          <p:cNvPr id="6" name="Image 1" descr="preencoded.png">    </p:cNvPr>
          <p:cNvPicPr>
            <a:picLocks noChangeAspect="1"/>
          </p:cNvPicPr>
          <p:nvPr/>
        </p:nvPicPr>
        <p:blipFill>
          <a:blip r:embed="rId2"/>
          <a:stretch>
            <a:fillRect/>
          </a:stretch>
        </p:blipFill>
        <p:spPr>
          <a:xfrm>
            <a:off x="3420282" y="2544266"/>
            <a:ext cx="743130" cy="928886"/>
          </a:xfrm>
          <a:prstGeom prst="rect">
            <a:avLst/>
          </a:prstGeom>
        </p:spPr>
      </p:pic>
      <p:sp>
        <p:nvSpPr>
          <p:cNvPr id="7" name="Text 3"/>
          <p:cNvSpPr/>
          <p:nvPr/>
        </p:nvSpPr>
        <p:spPr>
          <a:xfrm>
            <a:off x="4389030" y="2544266"/>
            <a:ext cx="1594009" cy="593725"/>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Alexandria SemiBold" pitchFamily="34" charset="0"/>
                <a:ea typeface="Alexandria SemiBold" pitchFamily="34" charset="-122"/>
                <a:cs typeface="Alexandria SemiBold" pitchFamily="34" charset="-120"/>
              </a:rPr>
              <a:t>Advanced Analytics</a:t>
            </a:r>
            <a:endParaRPr lang="en-US" sz="1850" dirty="0"/>
          </a:p>
        </p:txBody>
      </p:sp>
      <p:sp>
        <p:nvSpPr>
          <p:cNvPr id="8" name="Text 4"/>
          <p:cNvSpPr/>
          <p:nvPr/>
        </p:nvSpPr>
        <p:spPr>
          <a:xfrm>
            <a:off x="4389030" y="3246239"/>
            <a:ext cx="1594009" cy="173355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Vendor spend trends, anomaly detection, and predictive payment forecasting.</a:t>
            </a:r>
            <a:endParaRPr lang="en-US" sz="1400" dirty="0"/>
          </a:p>
        </p:txBody>
      </p:sp>
      <p:pic>
        <p:nvPicPr>
          <p:cNvPr id="9" name="Image 2" descr="preencoded.png">    </p:cNvPr>
          <p:cNvPicPr>
            <a:picLocks noChangeAspect="1"/>
          </p:cNvPicPr>
          <p:nvPr/>
        </p:nvPicPr>
        <p:blipFill>
          <a:blip r:embed="rId3"/>
          <a:stretch>
            <a:fillRect/>
          </a:stretch>
        </p:blipFill>
        <p:spPr>
          <a:xfrm>
            <a:off x="6208656" y="2544266"/>
            <a:ext cx="743130" cy="928886"/>
          </a:xfrm>
          <a:prstGeom prst="rect">
            <a:avLst/>
          </a:prstGeom>
        </p:spPr>
      </p:pic>
      <p:sp>
        <p:nvSpPr>
          <p:cNvPr id="10" name="Text 5"/>
          <p:cNvSpPr/>
          <p:nvPr/>
        </p:nvSpPr>
        <p:spPr>
          <a:xfrm>
            <a:off x="7177404" y="2544266"/>
            <a:ext cx="1594009" cy="593725"/>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Alexandria SemiBold" pitchFamily="34" charset="0"/>
                <a:ea typeface="Alexandria SemiBold" pitchFamily="34" charset="-122"/>
                <a:cs typeface="Alexandria SemiBold" pitchFamily="34" charset="-120"/>
              </a:rPr>
              <a:t>Document Expansion</a:t>
            </a:r>
            <a:endParaRPr lang="en-US" sz="1850" dirty="0"/>
          </a:p>
        </p:txBody>
      </p:sp>
      <p:sp>
        <p:nvSpPr>
          <p:cNvPr id="11" name="Text 6"/>
          <p:cNvSpPr/>
          <p:nvPr/>
        </p:nvSpPr>
        <p:spPr>
          <a:xfrm>
            <a:off x="7177404" y="3246239"/>
            <a:ext cx="1594009" cy="202247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Extend extraction to receipts, multi-page contracts, and non-invoice financial documents.</a:t>
            </a:r>
            <a:endParaRPr lang="en-US" sz="1400" dirty="0"/>
          </a:p>
        </p:txBody>
      </p:sp>
      <p:pic>
        <p:nvPicPr>
          <p:cNvPr id="12" name="Image 3" descr="preencoded.png">    </p:cNvPr>
          <p:cNvPicPr>
            <a:picLocks noChangeAspect="1"/>
          </p:cNvPicPr>
          <p:nvPr/>
        </p:nvPicPr>
        <p:blipFill>
          <a:blip r:embed="rId4"/>
          <a:stretch>
            <a:fillRect/>
          </a:stretch>
        </p:blipFill>
        <p:spPr>
          <a:xfrm>
            <a:off x="8997030" y="2544266"/>
            <a:ext cx="743130" cy="928886"/>
          </a:xfrm>
          <a:prstGeom prst="rect">
            <a:avLst/>
          </a:prstGeom>
        </p:spPr>
      </p:pic>
      <p:sp>
        <p:nvSpPr>
          <p:cNvPr id="13" name="Text 7"/>
          <p:cNvSpPr/>
          <p:nvPr/>
        </p:nvSpPr>
        <p:spPr>
          <a:xfrm>
            <a:off x="9965778" y="2544266"/>
            <a:ext cx="1594009" cy="593725"/>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Alexandria SemiBold" pitchFamily="34" charset="0"/>
                <a:ea typeface="Alexandria SemiBold" pitchFamily="34" charset="-122"/>
                <a:cs typeface="Alexandria SemiBold" pitchFamily="34" charset="-120"/>
              </a:rPr>
              <a:t>Cloud Scalability</a:t>
            </a:r>
            <a:endParaRPr lang="en-US" sz="1850" dirty="0"/>
          </a:p>
        </p:txBody>
      </p:sp>
      <p:sp>
        <p:nvSpPr>
          <p:cNvPr id="14" name="Text 8"/>
          <p:cNvSpPr/>
          <p:nvPr/>
        </p:nvSpPr>
        <p:spPr>
          <a:xfrm>
            <a:off x="9965778" y="3246239"/>
            <a:ext cx="1594009" cy="202247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3B3535"/>
                </a:solidFill>
                <a:latin typeface="Sora Light" pitchFamily="34" charset="0"/>
                <a:ea typeface="Sora Light" pitchFamily="34" charset="-122"/>
                <a:cs typeface="Sora Light" pitchFamily="34" charset="-120"/>
              </a:rPr>
              <a:t>Containerized microservices with autoscaling, batch processing, and job orchestration.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31908" y="531217"/>
            <a:ext cx="6355993" cy="584597"/>
          </a:xfrm>
          <a:prstGeom prst="rect">
            <a:avLst/>
          </a:prstGeom>
          <a:noFill/>
          <a:ln/>
        </p:spPr>
        <p:txBody>
          <a:bodyPr wrap="none" lIns="0" tIns="0" rIns="0" bIns="0" rtlCol="0" anchor="t"/>
          <a:lstStyle/>
          <a:p>
            <a:pPr algn="l" indent="0" marL="0">
              <a:lnSpc>
                <a:spcPct val="104000"/>
              </a:lnSpc>
              <a:buNone/>
            </a:pPr>
            <a:r>
              <a:rPr lang="en-US" sz="3650" dirty="0">
                <a:solidFill>
                  <a:srgbClr val="1F1E1E"/>
                </a:solidFill>
                <a:latin typeface="Alexandria SemiBold" pitchFamily="34" charset="0"/>
                <a:ea typeface="Alexandria SemiBold" pitchFamily="34" charset="-122"/>
                <a:cs typeface="Alexandria SemiBold" pitchFamily="34" charset="-120"/>
              </a:rPr>
              <a:t>Conclusion</a:t>
            </a:r>
            <a:endParaRPr lang="en-US" sz="3650" dirty="0"/>
          </a:p>
        </p:txBody>
      </p:sp>
      <p:sp>
        <p:nvSpPr>
          <p:cNvPr id="4" name="Shape 1"/>
          <p:cNvSpPr/>
          <p:nvPr/>
        </p:nvSpPr>
        <p:spPr>
          <a:xfrm>
            <a:off x="631908" y="1378148"/>
            <a:ext cx="399842" cy="399852"/>
          </a:xfrm>
          <a:prstGeom prst="roundRect">
            <a:avLst>
              <a:gd name="adj" fmla="val 18669"/>
            </a:avLst>
          </a:prstGeom>
          <a:solidFill>
            <a:srgbClr val="D5DCF6"/>
          </a:solidFill>
          <a:ln w="6350">
            <a:solidFill>
              <a:srgbClr val="BBC2DC"/>
            </a:solidFill>
            <a:prstDash val="solid"/>
          </a:ln>
        </p:spPr>
      </p:sp>
      <p:sp>
        <p:nvSpPr>
          <p:cNvPr id="5" name="Text 2"/>
          <p:cNvSpPr/>
          <p:nvPr/>
        </p:nvSpPr>
        <p:spPr>
          <a:xfrm>
            <a:off x="1206668" y="1439168"/>
            <a:ext cx="5781233" cy="292298"/>
          </a:xfrm>
          <a:prstGeom prst="rect">
            <a:avLst/>
          </a:prstGeom>
          <a:noFill/>
          <a:ln/>
        </p:spPr>
        <p:txBody>
          <a:bodyPr wrap="none" lIns="0" tIns="0" rIns="0" bIns="0" rtlCol="0" anchor="t"/>
          <a:lstStyle/>
          <a:p>
            <a:pPr algn="l" indent="0" marL="0">
              <a:lnSpc>
                <a:spcPct val="104000"/>
              </a:lnSpc>
              <a:buNone/>
            </a:pPr>
            <a:r>
              <a:rPr lang="en-US" sz="1800" dirty="0">
                <a:solidFill>
                  <a:srgbClr val="3B3535"/>
                </a:solidFill>
                <a:latin typeface="Alexandria SemiBold" pitchFamily="34" charset="0"/>
                <a:ea typeface="Alexandria SemiBold" pitchFamily="34" charset="-122"/>
                <a:cs typeface="Alexandria SemiBold" pitchFamily="34" charset="-120"/>
              </a:rPr>
              <a:t>Efficiency &amp; Accuracy</a:t>
            </a:r>
            <a:endParaRPr lang="en-US" sz="1800" dirty="0"/>
          </a:p>
        </p:txBody>
      </p:sp>
      <p:sp>
        <p:nvSpPr>
          <p:cNvPr id="6" name="Text 3"/>
          <p:cNvSpPr/>
          <p:nvPr/>
        </p:nvSpPr>
        <p:spPr>
          <a:xfrm>
            <a:off x="1206668" y="1836341"/>
            <a:ext cx="5781233" cy="564158"/>
          </a:xfrm>
          <a:prstGeom prst="rect">
            <a:avLst/>
          </a:prstGeom>
          <a:noFill/>
          <a:ln/>
        </p:spPr>
        <p:txBody>
          <a:bodyPr wrap="square" lIns="0" tIns="0" rIns="0" bIns="0" rtlCol="0" anchor="t">
            <a:normAutofit/>
          </a:bodyPr>
          <a:lstStyle/>
          <a:p>
            <a:pPr algn="l" indent="0" marL="0">
              <a:lnSpc>
                <a:spcPct val="132000"/>
              </a:lnSpc>
              <a:buNone/>
            </a:pPr>
            <a:r>
              <a:rPr lang="en-US" sz="1350" dirty="0">
                <a:solidFill>
                  <a:srgbClr val="3B3535"/>
                </a:solidFill>
                <a:latin typeface="Sora Light" pitchFamily="34" charset="0"/>
                <a:ea typeface="Sora Light" pitchFamily="34" charset="-122"/>
                <a:cs typeface="Sora Light" pitchFamily="34" charset="-120"/>
              </a:rPr>
              <a:t>Hybrid OCR + LLM pipeline significantly reduces manual effort and improves data fidelity.</a:t>
            </a:r>
            <a:endParaRPr lang="en-US" sz="1350" dirty="0"/>
          </a:p>
        </p:txBody>
      </p:sp>
      <p:sp>
        <p:nvSpPr>
          <p:cNvPr id="7" name="Shape 4"/>
          <p:cNvSpPr/>
          <p:nvPr/>
        </p:nvSpPr>
        <p:spPr>
          <a:xfrm>
            <a:off x="631908" y="2750344"/>
            <a:ext cx="399842" cy="399852"/>
          </a:xfrm>
          <a:prstGeom prst="roundRect">
            <a:avLst>
              <a:gd name="adj" fmla="val 18669"/>
            </a:avLst>
          </a:prstGeom>
          <a:solidFill>
            <a:srgbClr val="D5DCF6"/>
          </a:solidFill>
          <a:ln w="6350">
            <a:solidFill>
              <a:srgbClr val="BBC2DC"/>
            </a:solidFill>
            <a:prstDash val="solid"/>
          </a:ln>
        </p:spPr>
      </p:sp>
      <p:sp>
        <p:nvSpPr>
          <p:cNvPr id="8" name="Text 5"/>
          <p:cNvSpPr/>
          <p:nvPr/>
        </p:nvSpPr>
        <p:spPr>
          <a:xfrm>
            <a:off x="1206668" y="2811363"/>
            <a:ext cx="5781233" cy="292298"/>
          </a:xfrm>
          <a:prstGeom prst="rect">
            <a:avLst/>
          </a:prstGeom>
          <a:noFill/>
          <a:ln/>
        </p:spPr>
        <p:txBody>
          <a:bodyPr wrap="none" lIns="0" tIns="0" rIns="0" bIns="0" rtlCol="0" anchor="t"/>
          <a:lstStyle/>
          <a:p>
            <a:pPr algn="l" indent="0" marL="0">
              <a:lnSpc>
                <a:spcPct val="104000"/>
              </a:lnSpc>
              <a:buNone/>
            </a:pPr>
            <a:r>
              <a:rPr lang="en-US" sz="1800" dirty="0">
                <a:solidFill>
                  <a:srgbClr val="3B3535"/>
                </a:solidFill>
                <a:latin typeface="Alexandria SemiBold" pitchFamily="34" charset="0"/>
                <a:ea typeface="Alexandria SemiBold" pitchFamily="34" charset="-122"/>
                <a:cs typeface="Alexandria SemiBold" pitchFamily="34" charset="-120"/>
              </a:rPr>
              <a:t>Human-in-the-Loop</a:t>
            </a:r>
            <a:endParaRPr lang="en-US" sz="1800" dirty="0"/>
          </a:p>
        </p:txBody>
      </p:sp>
      <p:sp>
        <p:nvSpPr>
          <p:cNvPr id="9" name="Text 6"/>
          <p:cNvSpPr/>
          <p:nvPr/>
        </p:nvSpPr>
        <p:spPr>
          <a:xfrm>
            <a:off x="1206668" y="3208536"/>
            <a:ext cx="5781233" cy="564158"/>
          </a:xfrm>
          <a:prstGeom prst="rect">
            <a:avLst/>
          </a:prstGeom>
          <a:noFill/>
          <a:ln/>
        </p:spPr>
        <p:txBody>
          <a:bodyPr wrap="square" lIns="0" tIns="0" rIns="0" bIns="0" rtlCol="0" anchor="t">
            <a:normAutofit/>
          </a:bodyPr>
          <a:lstStyle/>
          <a:p>
            <a:pPr algn="l" indent="0" marL="0">
              <a:lnSpc>
                <a:spcPct val="132000"/>
              </a:lnSpc>
              <a:buNone/>
            </a:pPr>
            <a:r>
              <a:rPr lang="en-US" sz="1350" dirty="0">
                <a:solidFill>
                  <a:srgbClr val="3B3535"/>
                </a:solidFill>
                <a:latin typeface="Sora Light" pitchFamily="34" charset="0"/>
                <a:ea typeface="Sora Light" pitchFamily="34" charset="-122"/>
                <a:cs typeface="Sora Light" pitchFamily="34" charset="-120"/>
              </a:rPr>
              <a:t>Confidence scoring and Streamlit validation balance automation with oversight for auditable results.</a:t>
            </a:r>
            <a:endParaRPr lang="en-US" sz="1350" dirty="0"/>
          </a:p>
        </p:txBody>
      </p:sp>
      <p:sp>
        <p:nvSpPr>
          <p:cNvPr id="10" name="Shape 7"/>
          <p:cNvSpPr/>
          <p:nvPr/>
        </p:nvSpPr>
        <p:spPr>
          <a:xfrm>
            <a:off x="631908" y="4122539"/>
            <a:ext cx="399842" cy="399852"/>
          </a:xfrm>
          <a:prstGeom prst="roundRect">
            <a:avLst>
              <a:gd name="adj" fmla="val 18669"/>
            </a:avLst>
          </a:prstGeom>
          <a:solidFill>
            <a:srgbClr val="D5DCF6"/>
          </a:solidFill>
          <a:ln w="6350">
            <a:solidFill>
              <a:srgbClr val="BBC2DC"/>
            </a:solidFill>
            <a:prstDash val="solid"/>
          </a:ln>
        </p:spPr>
      </p:sp>
      <p:sp>
        <p:nvSpPr>
          <p:cNvPr id="11" name="Text 8"/>
          <p:cNvSpPr/>
          <p:nvPr/>
        </p:nvSpPr>
        <p:spPr>
          <a:xfrm>
            <a:off x="1206668" y="4183559"/>
            <a:ext cx="5781233" cy="292298"/>
          </a:xfrm>
          <a:prstGeom prst="rect">
            <a:avLst/>
          </a:prstGeom>
          <a:noFill/>
          <a:ln/>
        </p:spPr>
        <p:txBody>
          <a:bodyPr wrap="none" lIns="0" tIns="0" rIns="0" bIns="0" rtlCol="0" anchor="t"/>
          <a:lstStyle/>
          <a:p>
            <a:pPr algn="l" indent="0" marL="0">
              <a:lnSpc>
                <a:spcPct val="104000"/>
              </a:lnSpc>
              <a:buNone/>
            </a:pPr>
            <a:r>
              <a:rPr lang="en-US" sz="1800" dirty="0">
                <a:solidFill>
                  <a:srgbClr val="3B3535"/>
                </a:solidFill>
                <a:latin typeface="Alexandria SemiBold" pitchFamily="34" charset="0"/>
                <a:ea typeface="Alexandria SemiBold" pitchFamily="34" charset="-122"/>
                <a:cs typeface="Alexandria SemiBold" pitchFamily="34" charset="-120"/>
              </a:rPr>
              <a:t>Business Impact</a:t>
            </a:r>
            <a:endParaRPr lang="en-US" sz="1800" dirty="0"/>
          </a:p>
        </p:txBody>
      </p:sp>
      <p:sp>
        <p:nvSpPr>
          <p:cNvPr id="12" name="Text 9"/>
          <p:cNvSpPr/>
          <p:nvPr/>
        </p:nvSpPr>
        <p:spPr>
          <a:xfrm>
            <a:off x="1206668" y="4580731"/>
            <a:ext cx="5781233" cy="564158"/>
          </a:xfrm>
          <a:prstGeom prst="rect">
            <a:avLst/>
          </a:prstGeom>
          <a:noFill/>
          <a:ln/>
        </p:spPr>
        <p:txBody>
          <a:bodyPr wrap="square" lIns="0" tIns="0" rIns="0" bIns="0" rtlCol="0" anchor="t">
            <a:normAutofit/>
          </a:bodyPr>
          <a:lstStyle/>
          <a:p>
            <a:pPr algn="l" indent="0" marL="0">
              <a:lnSpc>
                <a:spcPct val="132000"/>
              </a:lnSpc>
              <a:buNone/>
            </a:pPr>
            <a:r>
              <a:rPr lang="en-US" sz="1350" dirty="0">
                <a:solidFill>
                  <a:srgbClr val="3B3535"/>
                </a:solidFill>
                <a:latin typeface="Sora Light" pitchFamily="34" charset="0"/>
                <a:ea typeface="Sora Light" pitchFamily="34" charset="-122"/>
                <a:cs typeface="Sora Light" pitchFamily="34" charset="-120"/>
              </a:rPr>
              <a:t>Faster AP cycles, lower costs, and cleaner data enable better financial decision-making.</a:t>
            </a:r>
            <a:endParaRPr lang="en-US" sz="1350" dirty="0"/>
          </a:p>
        </p:txBody>
      </p:sp>
      <p:sp>
        <p:nvSpPr>
          <p:cNvPr id="13" name="Shape 10"/>
          <p:cNvSpPr/>
          <p:nvPr/>
        </p:nvSpPr>
        <p:spPr>
          <a:xfrm>
            <a:off x="631908" y="5341640"/>
            <a:ext cx="6355993" cy="985143"/>
          </a:xfrm>
          <a:prstGeom prst="roundRect">
            <a:avLst>
              <a:gd name="adj" fmla="val 7577"/>
            </a:avLst>
          </a:prstGeom>
          <a:solidFill>
            <a:srgbClr val="D5DCF6"/>
          </a:solidFill>
          <a:ln/>
        </p:spPr>
      </p:sp>
      <p:pic>
        <p:nvPicPr>
          <p:cNvPr id="14" name="Image 1" descr="preencoded.png">    </p:cNvPr>
          <p:cNvPicPr>
            <a:picLocks noChangeAspect="1"/>
          </p:cNvPicPr>
          <p:nvPr/>
        </p:nvPicPr>
        <p:blipFill>
          <a:blip r:embed="rId2"/>
          <a:stretch>
            <a:fillRect/>
          </a:stretch>
        </p:blipFill>
        <p:spPr>
          <a:xfrm>
            <a:off x="809605" y="5592266"/>
            <a:ext cx="222145" cy="177701"/>
          </a:xfrm>
          <a:prstGeom prst="rect">
            <a:avLst/>
          </a:prstGeom>
        </p:spPr>
      </p:pic>
      <p:sp>
        <p:nvSpPr>
          <p:cNvPr id="15" name="Text 11"/>
          <p:cNvSpPr/>
          <p:nvPr/>
        </p:nvSpPr>
        <p:spPr>
          <a:xfrm>
            <a:off x="1209446" y="5560913"/>
            <a:ext cx="5600758" cy="564158"/>
          </a:xfrm>
          <a:prstGeom prst="rect">
            <a:avLst/>
          </a:prstGeom>
          <a:noFill/>
          <a:ln/>
        </p:spPr>
        <p:txBody>
          <a:bodyPr wrap="square" lIns="0" tIns="0" rIns="0" bIns="0" rtlCol="0" anchor="t">
            <a:normAutofit/>
          </a:bodyPr>
          <a:lstStyle/>
          <a:p>
            <a:pPr algn="l" indent="0" marL="0">
              <a:lnSpc>
                <a:spcPct val="132000"/>
              </a:lnSpc>
              <a:buNone/>
            </a:pPr>
            <a:r>
              <a:rPr lang="en-US" sz="1350" dirty="0">
                <a:solidFill>
                  <a:srgbClr val="000000"/>
                </a:solidFill>
                <a:latin typeface="Sora Light" pitchFamily="34" charset="0"/>
                <a:ea typeface="Sora Light" pitchFamily="34" charset="-122"/>
                <a:cs typeface="Sora Light" pitchFamily="34" charset="-120"/>
              </a:rPr>
              <a:t>Theme colors used: #1A2D7A (primary), #D3DCF6, #E7EEF9 for emphasis and visual consistency.</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2026-08-06T12:01:01Z</dcterms:created>
  <dcterms:modified xsi:type="dcterms:W3CDTF">2026-08-06T12:01:01Z</dcterms:modified>
</cp:coreProperties>
</file>